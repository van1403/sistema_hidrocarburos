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ción" id="{977d5b86-7dc4-4425-9567-624b47351d28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Presentación del proyecto. Aquí cada integrante dice su nombre y qué parte hizo.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Hoy el registro se llena a mano en Excel: se pueden escribir valores que no están en las listas, se pierden ceros en los códigos y cada persona arma el archivo a su manera.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alcance es solo la hoja Registro. Las hojas auxiliares no se editan: se usan como catálogos.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navegador nunca habla con la base de datos: todo pasa por la API. Eso permite cambiar de SQLite a Supabase sin tocar el frontend.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 script lee las hojas ocultas del libro y genera database/catalogos.json. No hay listas inventadas.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Mostrar en vivo: elegir una Acción y ver cómo cambia la Acción Específica; guardar vacío para ver los mensajes.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ruta devuelve JSON y códigos HTTP: 201 al crear, 400 si hay errores de validación, 404 si no existe, 409 si se llenó la plantilla.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 edita el XML de la hoja Registro dentro del .xlsm. Así no se pierden macros, validaciones ni hojas ocultas. La limitación: Excel real debe abrirlo para confirmar; LibreOffice y openpyxl lo abren bien.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Las pruebas están automatizadas: npm run pruebas. El detalle está en documentos/registro_de_pruebas.md.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Cierre. Mencionar la limitación honestamente: se verificó con LibreOffice y openpyxl; en la sustentación abrirlo en Excel.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ORTADA">
    <p:bg>
      <p:bgPr>
        <a:solidFill>
          <a:srgbClr val="0A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IDO">
    <p:bg>
      <p:bgPr>
        <a:solidFill>
          <a:srgbClr val="F3F5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B7C"/>
                </a:solidFill>
              </a:rPr>
              <a:t>SENATI · Supervisión de hidrocarburos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731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00"/>
                </a:solidFill>
              </a:rPr>
              <a:t>SENATI · Asignación grupal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80160"/>
            <a:ext cx="7680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Sistema de registro de acciones de supervisión de hidrocarburos</a:t>
            </a:r>
            <a:endParaRPr lang="en-US" sz="3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83464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B8E8"/>
                </a:solidFill>
              </a:rPr>
              <a:t>Frontend · Backend · Base de datos · Exportación automática a Excel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41148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Integrantes: (completar)   ·   Docente: (completar)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 problema</a:t>
            </a:r>
            <a:endParaRPr lang="en-US" sz="2800" dirty="0"/>
          </a:p>
        </p:txBody>
      </p:sp>
      <p:sp>
        <p:nvSpPr>
          <p:cNvPr id="4" name="Tarjeta Registro manual en Excel"/>
          <p:cNvSpPr/>
          <p:nvPr/>
        </p:nvSpPr>
        <p:spPr>
          <a:xfrm>
            <a:off x="457200" y="109728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40080" y="1280160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868680" y="1207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4A"/>
                </a:solidFill>
              </a:rPr>
              <a:t>Registro manual en Excel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5544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Se llena la hoja «Registro» a mano, fila por fila, con listas desplegables que dependen una de otra.</a:t>
            </a:r>
            <a:endParaRPr lang="en-US" sz="1200" dirty="0"/>
          </a:p>
        </p:txBody>
      </p:sp>
      <p:sp>
        <p:nvSpPr>
          <p:cNvPr id="8" name="Tarjeta Errores frecuentes"/>
          <p:cNvSpPr/>
          <p:nvPr/>
        </p:nvSpPr>
        <p:spPr>
          <a:xfrm>
            <a:off x="4754880" y="109728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937760" y="1280160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5166360" y="1207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4A"/>
                </a:solidFill>
              </a:rPr>
              <a:t>Errores frecuentes</a:t>
            </a:r>
            <a:endParaRPr lang="en-US" sz="1400" dirty="0"/>
          </a:p>
        </p:txBody>
      </p:sp>
      <p:sp>
        <p:nvSpPr>
          <p:cNvPr id="11" name="Text 8"/>
          <p:cNvSpPr txBox="1"/>
          <p:nvPr/>
        </p:nvSpPr>
        <p:spPr>
          <a:xfrm>
            <a:off x="4937760" y="155448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Valores fuera del catálogo, expedientes que pierden ceros y el campo CONTRATO digitado en vez de calculado.</a:t>
            </a:r>
            <a:endParaRPr lang="en-US" sz="1200" dirty="0"/>
          </a:p>
        </p:txBody>
      </p:sp>
      <p:sp>
        <p:nvSpPr>
          <p:cNvPr id="12" name="Tarjeta Sin base de datos"/>
          <p:cNvSpPr/>
          <p:nvPr/>
        </p:nvSpPr>
        <p:spPr>
          <a:xfrm>
            <a:off x="457200" y="274320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40080" y="2926080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868680" y="28529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4A"/>
                </a:solidFill>
              </a:rPr>
              <a:t>Sin base de datos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32004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Los datos viven solo en el archivo: no hay búsqueda, filtros ni control de cambios.</a:t>
            </a:r>
            <a:endParaRPr lang="en-US" sz="1200" dirty="0"/>
          </a:p>
        </p:txBody>
      </p:sp>
      <p:sp>
        <p:nvSpPr>
          <p:cNvPr id="16" name="Tarjeta Reporte armado a mano"/>
          <p:cNvSpPr/>
          <p:nvPr/>
        </p:nvSpPr>
        <p:spPr>
          <a:xfrm>
            <a:off x="4754880" y="2743200"/>
            <a:ext cx="393192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937760" y="2926080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5166360" y="285292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4A"/>
                </a:solidFill>
              </a:rPr>
              <a:t>Reporte armado a mano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4937760" y="3200400"/>
            <a:ext cx="3566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Cada mes hay que copiar y revisar el Excel para entregarlo con el formato oficial.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Objetivo y alcance</a:t>
            </a:r>
            <a:endParaRPr lang="en-US" sz="2800" dirty="0"/>
          </a:p>
        </p:txBody>
      </p:sp>
      <p:sp>
        <p:nvSpPr>
          <p:cNvPr id="4" name="Text 1"/>
          <p:cNvSpPr txBox="1"/>
          <p:nvPr/>
        </p:nvSpPr>
        <p:spPr>
          <a:xfrm>
            <a:off x="457200" y="1097280"/>
            <a:ext cx="40233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0B5CAB"/>
                </a:solidFill>
              </a:rPr>
              <a:t>Objetivo</a:t>
            </a:r>
            <a:endParaRPr lang="en-US" sz="16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600" dirty="0">
                <a:solidFill>
                  <a:srgbClr val="1D2733"/>
                </a:solidFill>
              </a:rPr>
              <a:t>Digitalizar la captura de la hoja «Registro», guardarla en una base de datos y generar el Excel automáticamente.</a:t>
            </a:r>
            <a:endParaRPr lang="en-US" sz="1600" dirty="0"/>
          </a:p>
        </p:txBody>
      </p:sp>
      <p:sp>
        <p:nvSpPr>
          <p:cNvPr id="5" name="Tarjeta Sí incluye"/>
          <p:cNvSpPr/>
          <p:nvPr/>
        </p:nvSpPr>
        <p:spPr>
          <a:xfrm>
            <a:off x="4754880" y="109728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4937760" y="1280160"/>
            <a:ext cx="128016" cy="128016"/>
          </a:xfrm>
          <a:prstGeom prst="ellipse">
            <a:avLst/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166360" y="120700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4A"/>
                </a:solidFill>
              </a:rPr>
              <a:t>Sí incluye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937760" y="155448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Formulario con listas dependientes · CRUD · búsqueda y filtros · exportación a Excel</a:t>
            </a:r>
            <a:endParaRPr lang="en-US" sz="1200" dirty="0"/>
          </a:p>
        </p:txBody>
      </p:sp>
      <p:sp>
        <p:nvSpPr>
          <p:cNvPr id="9" name="Tarjeta No incluye"/>
          <p:cNvSpPr/>
          <p:nvPr/>
        </p:nvSpPr>
        <p:spPr>
          <a:xfrm>
            <a:off x="4754880" y="2651760"/>
            <a:ext cx="393192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4937760" y="2834640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5166360" y="27614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4A"/>
                </a:solidFill>
              </a:rPr>
              <a:t>No incluye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4937760" y="3108960"/>
            <a:ext cx="35661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Edición de las hojas auxiliares ni módulos de ventas. Los catálogos se leen del libro oficial.</a:t>
            </a:r>
            <a:endParaRPr lang="en-US" sz="1200" dirty="0"/>
          </a:p>
        </p:txBody>
      </p:sp>
      <p:sp>
        <p:nvSpPr>
          <p:cNvPr id="13" name="Text 10"/>
          <p:cNvSpPr txBox="1"/>
          <p:nvPr/>
        </p:nvSpPr>
        <p:spPr>
          <a:xfrm>
            <a:off x="457200" y="2926080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B6B7C"/>
                </a:solidFill>
              </a:rPr>
              <a:t>Producto final: aplicación funcional + base de datos + reporte Excel + documentación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Arquitectura: tres capas</a:t>
            </a:r>
            <a:endParaRPr lang="en-US" sz="2800" dirty="0"/>
          </a:p>
        </p:txBody>
      </p:sp>
      <p:sp>
        <p:nvSpPr>
          <p:cNvPr id="4" name="Capa Frontend"/>
          <p:cNvSpPr/>
          <p:nvPr/>
        </p:nvSpPr>
        <p:spPr>
          <a:xfrm>
            <a:off x="457200" y="137160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0B5CAB"/>
          </a:solidFill>
          <a:ln w="12700">
            <a:solidFill>
              <a:srgbClr val="0B5CAB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508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Frontend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20116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HTML, CSS y JavaScript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Formulario, tabla, filtros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292608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B6B7C"/>
                </a:solidFill>
              </a:rPr>
              <a:t>⇄</a:t>
            </a:r>
            <a:endParaRPr lang="en-US" sz="2400" dirty="0"/>
          </a:p>
        </p:txBody>
      </p:sp>
      <p:sp>
        <p:nvSpPr>
          <p:cNvPr id="8" name="Capa Backend"/>
          <p:cNvSpPr/>
          <p:nvPr/>
        </p:nvSpPr>
        <p:spPr>
          <a:xfrm>
            <a:off x="3383280" y="137160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0A2A4A"/>
          </a:solidFill>
          <a:ln w="12700">
            <a:solidFill>
              <a:srgbClr val="0A2A4A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383280" y="1508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Backend</a:t>
            </a:r>
            <a:endParaRPr lang="en-US" sz="2000" dirty="0"/>
          </a:p>
        </p:txBody>
      </p:sp>
      <p:sp>
        <p:nvSpPr>
          <p:cNvPr id="10" name="Text 7"/>
          <p:cNvSpPr txBox="1"/>
          <p:nvPr/>
        </p:nvSpPr>
        <p:spPr>
          <a:xfrm>
            <a:off x="3474720" y="20116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Node.js + Express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API REST y validaciones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852160" y="19202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dirty="0">
                <a:solidFill>
                  <a:srgbClr val="5B6B7C"/>
                </a:solidFill>
              </a:rPr>
              <a:t>⇄</a:t>
            </a:r>
            <a:endParaRPr lang="en-US" sz="2400" dirty="0"/>
          </a:p>
        </p:txBody>
      </p:sp>
      <p:sp>
        <p:nvSpPr>
          <p:cNvPr id="12" name="Capa Base de datos"/>
          <p:cNvSpPr/>
          <p:nvPr/>
        </p:nvSpPr>
        <p:spPr>
          <a:xfrm>
            <a:off x="6309360" y="137160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09360" y="150876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Base de datos</a:t>
            </a:r>
            <a:endParaRPr lang="en-US" sz="2000" dirty="0"/>
          </a:p>
        </p:txBody>
      </p:sp>
      <p:sp>
        <p:nvSpPr>
          <p:cNvPr id="14" name="Text 11"/>
          <p:cNvSpPr txBox="1"/>
          <p:nvPr/>
        </p:nvSpPr>
        <p:spPr>
          <a:xfrm>
            <a:off x="6400800" y="2011680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SQLite (local)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Supabase (nube)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2651760" y="3017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C"/>
                </a:solidFill>
              </a:rPr>
              <a:t>fetch() / JSON</a:t>
            </a:r>
            <a:endParaRPr lang="en-US" sz="1000" dirty="0"/>
          </a:p>
        </p:txBody>
      </p:sp>
      <p:sp>
        <p:nvSpPr>
          <p:cNvPr id="16" name="Text 13"/>
          <p:cNvSpPr txBox="1"/>
          <p:nvPr/>
        </p:nvSpPr>
        <p:spPr>
          <a:xfrm>
            <a:off x="5577840" y="3017520"/>
            <a:ext cx="1188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B6B7C"/>
                </a:solidFill>
              </a:rPr>
              <a:t>SQL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457200" y="35661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D2733"/>
                </a:solidFill>
              </a:rPr>
              <a:t>Además: la plantilla Excel (.xlsm) se usa para generar el reporte; sus hojas auxiliares alimentan los catálogos.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Datos: los catálogos salen del Excel</a:t>
            </a:r>
            <a:endParaRPr lang="en-US" sz="28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2926080"/>
                <a:gridCol w="3108960"/>
                <a:gridCol w="21945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Lista del formulario</a:t>
                      </a:r>
                      <a:endParaRPr lang="en-US" sz="12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C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Hoja del Excel</a:t>
                      </a:r>
                      <a:endParaRPr lang="en-US" sz="12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CA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Depende de</a:t>
                      </a:r>
                      <a:endParaRPr lang="en-US" sz="12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5CA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</a:rPr>
                        <a:t>Acción</a:t>
                      </a:r>
                      <a:endParaRPr lang="en-US" sz="12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</a:rPr>
                        <a:t>Accion</a:t>
                      </a:r>
                      <a:endParaRPr lang="en-US" sz="12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</a:rPr>
                        <a:t>Acción Específica</a:t>
                      </a:r>
                      <a:endParaRPr lang="en-US" sz="12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</a:rPr>
                        <a:t>AccionEspecifica</a:t>
                      </a:r>
                      <a:endParaRPr lang="en-US" sz="12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</a:rPr>
                        <a:t>Acción</a:t>
                      </a:r>
                      <a:endParaRPr lang="en-US" sz="12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</a:rPr>
                        <a:t>Sub Acción Específica</a:t>
                      </a:r>
                      <a:endParaRPr lang="en-US" sz="12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</a:rPr>
                        <a:t>SubAccion</a:t>
                      </a:r>
                      <a:endParaRPr lang="en-US" sz="12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</a:rPr>
                        <a:t>Acción Específica</a:t>
                      </a:r>
                      <a:endParaRPr lang="en-US" sz="12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</a:rPr>
                        <a:t>Tipo de Agente / Actividad</a:t>
                      </a:r>
                      <a:endParaRPr lang="en-US" sz="12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</a:rPr>
                        <a:t>ActividadAgente</a:t>
                      </a:r>
                      <a:endParaRPr lang="en-US" sz="12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</a:rPr>
                        <a:t>Tipo de Agente</a:t>
                      </a:r>
                      <a:endParaRPr lang="en-US" sz="12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</a:rPr>
                        <a:t>Provincia / Distrito</a:t>
                      </a:r>
                      <a:endParaRPr lang="en-US" sz="12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</a:rPr>
                        <a:t>Base (cols. AD, AF, AJ)</a:t>
                      </a:r>
                      <a:endParaRPr lang="en-US" sz="12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</a:rPr>
                        <a:t>Oficina Regional</a:t>
                      </a:r>
                      <a:endParaRPr lang="en-US" sz="12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</a:rPr>
                        <a:t>Empresa Supervisora</a:t>
                      </a:r>
                      <a:endParaRPr lang="en-US" sz="12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</a:rPr>
                        <a:t>Lista de Empresas Supervisoras</a:t>
                      </a:r>
                      <a:endParaRPr lang="en-US" sz="12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</a:rPr>
                        <a:t>Oficina Regional</a:t>
                      </a:r>
                      <a:endParaRPr lang="en-US" sz="12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</a:rPr>
                        <a:t>Mes, Transporte, Calidad</a:t>
                      </a:r>
                      <a:endParaRPr lang="en-US" sz="12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</a:rPr>
                        <a:t>Base</a:t>
                      </a:r>
                      <a:endParaRPr lang="en-US" sz="12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</a:rPr>
                        <a:t>—</a:t>
                      </a:r>
                      <a:endParaRPr lang="en-US" sz="1200" dirty="0"/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0233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</a:rPr>
              <a:t>Tabla «registros»: 14 campos + id + fechas. CONTRATO no se guarda: se calcula (primeros 10 caracteres de la empresa).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Frontend</a:t>
            </a:r>
            <a:endParaRPr lang="en-US" sz="2800" dirty="0"/>
          </a:p>
        </p:txBody>
      </p:sp>
      <p:pic>
        <p:nvPicPr>
          <p:cNvPr id="4" name="Captura formulario" descr="Formulario de registro del sistema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37760" y="1005840"/>
            <a:ext cx="3749040" cy="3401568"/>
          </a:xfrm>
          <a:prstGeom prst="rect">
            <a:avLst/>
          </a:prstGeom>
        </p:spPr>
      </p:pic>
      <p:sp>
        <p:nvSpPr>
          <p:cNvPr id="5" name="Text 1"/>
          <p:cNvSpPr txBox="1"/>
          <p:nvPr/>
        </p:nvSpPr>
        <p:spPr>
          <a:xfrm>
            <a:off x="457200" y="1097280"/>
            <a:ext cx="429768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D2733"/>
                </a:solidFill>
              </a:rPr>
              <a:t>Formulario por secciones: cabecera, clasificación, ubicación, supervisión y referencias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D2733"/>
                </a:solidFill>
              </a:rPr>
              <a:t>Listas dependientes que se reinician al cambiar la lista principal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D2733"/>
                </a:solidFill>
              </a:rPr>
              <a:t>Validaciones en pantalla con mensaje debajo de cada campo</a:t>
            </a:r>
            <a:endParaRPr lang="en-US" sz="15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500" dirty="0">
                <a:solidFill>
                  <a:srgbClr val="1D2733"/>
                </a:solidFill>
              </a:rPr>
              <a:t>Tabla con búsqueda, filtros, editar y eliminar con confirmación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Backend: API REST</a:t>
            </a:r>
            <a:endParaRPr lang="en-US" sz="28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97280"/>
          <a:ext cx="8229600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512064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Ruta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Qué hace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A4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/api/parametros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Catálogos del Excel y cabecera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/api/registros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Lista con filtros (q, acción, empresa, provincia…)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/api/registros/:id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 registro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POST /api/registros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Crea (valida contra los catálogos)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PUT /api/registros/:id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Actualiza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DELETE /api/registros/:id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Elimina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0F7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GET /api/exportar-excel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D273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Genera el .xlsm desde la base de datos</a:t>
                      </a:r>
                      <a:endParaRPr lang="en-US" sz="12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36576" marB="36576">
                    <a:lnL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CE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57200" y="41605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C"/>
                </a:solidFill>
              </a:rPr>
              <a:t>Estructura: routes → controllers → services (validación, exportación) → db (SQLite o Supabase)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Exportación a Excel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188720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A4A"/>
                </a:solidFill>
              </a:rPr>
              <a:t>1</a:t>
            </a:r>
            <a:endParaRPr lang="en-US" sz="1800" dirty="0"/>
          </a:p>
        </p:txBody>
      </p:sp>
      <p:sp>
        <p:nvSpPr>
          <p:cNvPr id="6" name="Text 3"/>
          <p:cNvSpPr txBox="1"/>
          <p:nvPr/>
        </p:nvSpPr>
        <p:spPr>
          <a:xfrm>
            <a:off x="1097280" y="1143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Leer registros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de la base de datos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2560320" y="1188720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56032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A4A"/>
                </a:solidFill>
              </a:rPr>
              <a:t>2</a:t>
            </a:r>
            <a:endParaRPr lang="en-US" sz="1800" dirty="0"/>
          </a:p>
        </p:txBody>
      </p:sp>
      <p:sp>
        <p:nvSpPr>
          <p:cNvPr id="9" name="Text 6"/>
          <p:cNvSpPr txBox="1"/>
          <p:nvPr/>
        </p:nvSpPr>
        <p:spPr>
          <a:xfrm>
            <a:off x="3200400" y="1143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Copiar la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plantilla .xlsm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663440" y="1188720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6344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A4A"/>
                </a:solidFill>
              </a:rPr>
              <a:t>3</a:t>
            </a:r>
            <a:endParaRPr lang="en-US" sz="1800" dirty="0"/>
          </a:p>
        </p:txBody>
      </p:sp>
      <p:sp>
        <p:nvSpPr>
          <p:cNvPr id="12" name="Text 9"/>
          <p:cNvSpPr txBox="1"/>
          <p:nvPr/>
        </p:nvSpPr>
        <p:spPr>
          <a:xfrm>
            <a:off x="5303520" y="1143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Escribir desde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la fila 22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6766560" y="1188720"/>
            <a:ext cx="548640" cy="548640"/>
          </a:xfrm>
          <a:prstGeom prst="ellipse">
            <a:avLst/>
          </a:prstGeom>
          <a:solidFill>
            <a:srgbClr val="F2A900"/>
          </a:solidFill>
          <a:ln w="12700">
            <a:solidFill>
              <a:srgbClr val="F2A900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766560" y="118872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A2A4A"/>
                </a:solidFill>
              </a:rPr>
              <a:t>4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7406640" y="11430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Descargar el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.xlsm</a:t>
            </a:r>
            <a:endParaRPr lang="en-US" sz="1200" dirty="0"/>
          </a:p>
        </p:txBody>
      </p:sp>
      <p:sp>
        <p:nvSpPr>
          <p:cNvPr id="16" name="Tarjeta Se conserva"/>
          <p:cNvSpPr/>
          <p:nvPr/>
        </p:nvSpPr>
        <p:spPr>
          <a:xfrm>
            <a:off x="457200" y="2194560"/>
            <a:ext cx="39319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640080" y="2377440"/>
            <a:ext cx="128016" cy="128016"/>
          </a:xfrm>
          <a:prstGeom prst="ellipse">
            <a:avLst/>
          </a:prstGeom>
          <a:solidFill>
            <a:srgbClr val="1E8E5A"/>
          </a:solidFill>
          <a:ln w="12700">
            <a:solidFill>
              <a:srgbClr val="1E8E5A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868680" y="23042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4A"/>
                </a:solidFill>
              </a:rPr>
              <a:t>Se conserva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65176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Macros (vbaProject.bin) · hojas auxiliares ocultas · tablas · validaciones · estilos e imágenes. Las hojas 2 a 9 salen idénticas byte a byte.</a:t>
            </a:r>
            <a:endParaRPr lang="en-US" sz="1200" dirty="0"/>
          </a:p>
        </p:txBody>
      </p:sp>
      <p:sp>
        <p:nvSpPr>
          <p:cNvPr id="20" name="Tarjeta Reglas del libro"/>
          <p:cNvSpPr/>
          <p:nvPr/>
        </p:nvSpPr>
        <p:spPr>
          <a:xfrm>
            <a:off x="4754880" y="2194560"/>
            <a:ext cx="393192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937760" y="2377440"/>
            <a:ext cx="128016" cy="128016"/>
          </a:xfrm>
          <a:prstGeom prst="ellipse">
            <a:avLst/>
          </a:prstGeom>
          <a:solidFill>
            <a:srgbClr val="0B5CAB"/>
          </a:solidFill>
          <a:ln w="12700">
            <a:solidFill>
              <a:srgbClr val="0B5CAB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5166360" y="2304288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A2A4A"/>
                </a:solidFill>
              </a:rPr>
              <a:t>Reglas del libro</a:t>
            </a:r>
            <a:endParaRPr lang="en-US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4937760" y="2651760"/>
            <a:ext cx="3566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D2733"/>
                </a:solidFill>
              </a:rPr>
              <a:t>Encabezado en la fila 21, datos desde la fila 22 (máx. 931). CONTRATO como fórmula LEFT(empresa;10). Mes y oficina en la cabecera.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ulo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2A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Pruebas</a:t>
            </a:r>
            <a:endParaRPr lang="en-US" sz="2800" dirty="0"/>
          </a:p>
        </p:txBody>
      </p:sp>
      <p:sp>
        <p:nvSpPr>
          <p:cNvPr id="4" name="Shape 1"/>
          <p:cNvSpPr/>
          <p:nvPr/>
        </p:nvSpPr>
        <p:spPr>
          <a:xfrm>
            <a:off x="457200" y="109728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457200" y="1188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5CAB"/>
                </a:solidFill>
              </a:rPr>
              <a:t>38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</a:rPr>
              <a:t>pruebas automáticas aprobadas</a:t>
            </a:r>
            <a:endParaRPr lang="en-US" sz="1100" dirty="0"/>
          </a:p>
        </p:txBody>
      </p:sp>
      <p:sp>
        <p:nvSpPr>
          <p:cNvPr id="7" name="Shape 4"/>
          <p:cNvSpPr/>
          <p:nvPr/>
        </p:nvSpPr>
        <p:spPr>
          <a:xfrm>
            <a:off x="2560320" y="109728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2560320" y="1188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5CAB"/>
                </a:solidFill>
              </a:rPr>
              <a:t>15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265176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</a:rPr>
              <a:t>registros válidos creados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663440" y="109728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4663440" y="1188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5CAB"/>
                </a:solidFill>
              </a:rPr>
              <a:t>3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475488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</a:rPr>
              <a:t>ediciones comprobadas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6766560" y="109728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5DCE4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766560" y="11887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B5CAB"/>
                </a:solidFill>
              </a:rPr>
              <a:t>2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6858000" y="19202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B6B7C"/>
                </a:solidFill>
              </a:rPr>
              <a:t>eliminaciones comprobadas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2834640"/>
            <a:ext cx="82296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733"/>
                </a:solidFill>
              </a:rPr>
              <a:t>Validaciones: campos vacíos, supervisores = 0, valores fuera del catálogo, distrito de otra provincia, expediente con letras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733"/>
                </a:solidFill>
              </a:rPr>
              <a:t>El expediente conserva los ceros a la izquierda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D2733"/>
                </a:solidFill>
              </a:rPr>
              <a:t>El Excel exportado tiene los mismos registros que el sistema y conserva macros y hojas auxiliares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5B6B7C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48640"/>
            <a:ext cx="7863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Conclusiones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463040"/>
            <a:ext cx="78638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El sistema reemplaza el llenado manual: los datos se validan contra los catálogos reales del libro.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El Excel se genera desde la base de datos y mantiene la estructura de la plantilla.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La misma aplicación funciona con SQLite (local) o Supabase (nube) cambiando una variable.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</a:rPr>
              <a:t>Limitaciones: máximo 931 registros por la plantilla; la compatibilidad total con Excel debe verificarse abriendo el archivo en Excel.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429768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2A900"/>
                </a:solidFill>
              </a:rPr>
              <a:t>¡Gracias! Preguntas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upervision Hidrocarburos">
  <a:themeElements>
    <a:clrScheme name="Supervision Hidrocarburos">
      <a:dk1>
        <a:srgbClr val="1D2733"/>
      </a:dk1>
      <a:lt1>
        <a:srgbClr val="FFFFFF"/>
      </a:lt1>
      <a:dk2>
        <a:srgbClr val="0A2A4A"/>
      </a:dk2>
      <a:lt2>
        <a:srgbClr val="F3F5F8"/>
      </a:lt2>
      <a:accent1>
        <a:srgbClr val="0B5CAB"/>
      </a:accent1>
      <a:accent2>
        <a:srgbClr val="F2A900"/>
      </a:accent2>
      <a:accent3>
        <a:srgbClr val="1E8E5A"/>
      </a:accent3>
      <a:accent4>
        <a:srgbClr val="C0392B"/>
      </a:accent4>
      <a:accent5>
        <a:srgbClr val="5B6B7C"/>
      </a:accent5>
      <a:accent6>
        <a:srgbClr val="8FB8E8"/>
      </a:accent6>
      <a:hlink>
        <a:srgbClr val="0B5CAB"/>
      </a:hlink>
      <a:folHlink>
        <a:srgbClr val="5B6B7C"/>
      </a:folHlink>
    </a:clrScheme>
    <a:fontScheme name="Supervision Hidrocarburo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Sistema de registro de acciones de supervisión de hidrocarburos</dc:title>
  <dc:subject>PptxGenJS Presentation</dc:subject>
  <dc:creator>PptxGenJS</dc:creator>
  <cp:lastModifiedBy>PptxGenJS</cp:lastModifiedBy>
  <cp:revision>1</cp:revision>
  <dcterms:created xsi:type="dcterms:W3CDTF">2026-10-27T00:17:49Z</dcterms:created>
  <dcterms:modified xsi:type="dcterms:W3CDTF">2026-10-27T00:17:49Z</dcterms:modified>
</cp:coreProperties>
</file>